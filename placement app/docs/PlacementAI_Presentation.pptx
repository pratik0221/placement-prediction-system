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5" r:id="rId9"/>
    <p:sldId id="266" r:id="rId10"/>
    <p:sldId id="267" r:id="rId11"/>
    <p:sldId id="263" r:id="rId12"/>
    <p:sldId id="264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1594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/>
          <p:cNvGrpSpPr/>
          <p:nvPr/>
        </p:nvGrpSpPr>
        <p:grpSpPr>
          <a:xfrm>
            <a:off x="0" y="0"/>
            <a:ext cx="9144677" cy="6858000"/>
            <a:chOff x="0" y="0"/>
            <a:chExt cx="9144677" cy="6858000"/>
          </a:xfrm>
        </p:grpSpPr>
        <p:pic>
          <p:nvPicPr>
            <p:cNvPr id="8" name="Picture 7" descr="SD-PanelTitle-R1.png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9144000" cy="6858000"/>
            </a:xfrm>
            <a:prstGeom prst="rect">
              <a:avLst/>
            </a:prstGeom>
          </p:spPr>
        </p:pic>
        <p:sp>
          <p:nvSpPr>
            <p:cNvPr id="11" name="Rectangle 10"/>
            <p:cNvSpPr/>
            <p:nvPr/>
          </p:nvSpPr>
          <p:spPr>
            <a:xfrm>
              <a:off x="1515532" y="1520422"/>
              <a:ext cx="6112935" cy="3818468"/>
            </a:xfrm>
            <a:prstGeom prst="rect">
              <a:avLst/>
            </a:prstGeom>
            <a:noFill/>
            <a:ln w="15875" cap="flat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pic>
          <p:nvPicPr>
            <p:cNvPr id="12" name="Picture 11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-2" r="47959"/>
            <a:stretch/>
          </p:blipFill>
          <p:spPr>
            <a:xfrm>
              <a:off x="0" y="3128434"/>
              <a:ext cx="1664208" cy="612648"/>
            </a:xfrm>
            <a:prstGeom prst="rect">
              <a:avLst/>
            </a:prstGeom>
          </p:spPr>
        </p:pic>
        <p:pic>
          <p:nvPicPr>
            <p:cNvPr id="13" name="Picture 12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-2" r="47959"/>
            <a:stretch/>
          </p:blipFill>
          <p:spPr>
            <a:xfrm>
              <a:off x="7480469" y="3128434"/>
              <a:ext cx="1664208" cy="612648"/>
            </a:xfrm>
            <a:prstGeom prst="rect">
              <a:avLst/>
            </a:prstGeom>
          </p:spPr>
        </p:pic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21934" y="1811863"/>
            <a:ext cx="5308866" cy="1515533"/>
          </a:xfrm>
        </p:spPr>
        <p:txBody>
          <a:bodyPr anchor="b">
            <a:noAutofit/>
          </a:bodyPr>
          <a:lstStyle>
            <a:lvl1pPr algn="ctr">
              <a:defRPr sz="4800"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921934" y="3598327"/>
            <a:ext cx="5308866" cy="1377651"/>
          </a:xfrm>
        </p:spPr>
        <p:txBody>
          <a:bodyPr anchor="t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065417" y="5054602"/>
            <a:ext cx="673276" cy="27940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921934" y="5054602"/>
            <a:ext cx="4064860" cy="27940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817317" y="5054602"/>
            <a:ext cx="413483" cy="27940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2019825" y="3471329"/>
            <a:ext cx="5113083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807876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/>
          <p:cNvCxnSpPr/>
          <p:nvPr/>
        </p:nvCxnSpPr>
        <p:spPr>
          <a:xfrm>
            <a:off x="1278465" y="2356260"/>
            <a:ext cx="6595534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07676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78465" y="1641413"/>
            <a:ext cx="6595534" cy="1822514"/>
          </a:xfrm>
        </p:spPr>
        <p:txBody>
          <a:bodyPr anchor="b">
            <a:normAutofit/>
          </a:bodyPr>
          <a:lstStyle>
            <a:lvl1pPr algn="ctr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78465" y="3734859"/>
            <a:ext cx="6595534" cy="1090015"/>
          </a:xfrm>
        </p:spPr>
        <p:txBody>
          <a:bodyPr anchor="t">
            <a:normAutofit/>
          </a:bodyPr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31" name="Straight Connector 30"/>
          <p:cNvCxnSpPr/>
          <p:nvPr/>
        </p:nvCxnSpPr>
        <p:spPr>
          <a:xfrm>
            <a:off x="1278466" y="3599392"/>
            <a:ext cx="6595533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361184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/>
          <p:cNvCxnSpPr/>
          <p:nvPr/>
        </p:nvCxnSpPr>
        <p:spPr>
          <a:xfrm>
            <a:off x="1278465" y="2356260"/>
            <a:ext cx="6595534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76866" y="915337"/>
            <a:ext cx="6798734" cy="130386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76866" y="2487168"/>
            <a:ext cx="3337560" cy="3447288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5152" y="2487168"/>
            <a:ext cx="3337560" cy="3447288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9548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76868" y="2658533"/>
            <a:ext cx="333756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76868" y="3243263"/>
            <a:ext cx="3337560" cy="2706624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1832" y="2658533"/>
            <a:ext cx="333756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1832" y="3243263"/>
            <a:ext cx="3337560" cy="2706624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41" name="Straight Connector 40"/>
          <p:cNvCxnSpPr/>
          <p:nvPr/>
        </p:nvCxnSpPr>
        <p:spPr>
          <a:xfrm>
            <a:off x="1278466" y="2354670"/>
            <a:ext cx="6595534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26960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76865" y="915337"/>
            <a:ext cx="6798735" cy="130386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14" name="Straight Connector 13"/>
          <p:cNvCxnSpPr/>
          <p:nvPr/>
        </p:nvCxnSpPr>
        <p:spPr>
          <a:xfrm>
            <a:off x="1278466" y="2354670"/>
            <a:ext cx="6595534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651482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63169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76865" y="1388534"/>
            <a:ext cx="2536798" cy="1371600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20062" y="982132"/>
            <a:ext cx="3855539" cy="4893735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76865" y="3031065"/>
            <a:ext cx="2536798" cy="243840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16" name="Straight Connector 15"/>
          <p:cNvCxnSpPr/>
          <p:nvPr/>
        </p:nvCxnSpPr>
        <p:spPr>
          <a:xfrm>
            <a:off x="1278466" y="2912533"/>
            <a:ext cx="2333594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431298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76865" y="1883832"/>
            <a:ext cx="3632202" cy="1371600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069" y="1032933"/>
            <a:ext cx="2929463" cy="4792136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76865" y="3255432"/>
            <a:ext cx="3632201" cy="182880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27808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76866" y="4815415"/>
            <a:ext cx="6798734" cy="56673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026260" y="1032933"/>
            <a:ext cx="7091482" cy="3361269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76866" y="5382153"/>
            <a:ext cx="6798734" cy="49371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99915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76866" y="906873"/>
            <a:ext cx="6798734" cy="3097860"/>
          </a:xfrm>
        </p:spPr>
        <p:txBody>
          <a:bodyPr anchor="ctr">
            <a:normAutofit/>
          </a:bodyPr>
          <a:lstStyle>
            <a:lvl1pPr algn="ctr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76865" y="4275666"/>
            <a:ext cx="6798736" cy="1600202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278465" y="4140199"/>
            <a:ext cx="6606425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748475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34333" y="982132"/>
            <a:ext cx="6400250" cy="2370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00200" y="3352799"/>
            <a:ext cx="5892798" cy="651933"/>
          </a:xfrm>
        </p:spPr>
        <p:txBody>
          <a:bodyPr anchor="ctr">
            <a:normAutofit/>
          </a:bodyPr>
          <a:lstStyle>
            <a:lvl1pPr marL="0" indent="0" algn="r">
              <a:buFontTx/>
              <a:buNone/>
              <a:defRPr sz="18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76863" y="4343400"/>
            <a:ext cx="6798738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849969" y="905362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72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3503" y="2827870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72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1278466" y="4140199"/>
            <a:ext cx="6595534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323851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76869" y="3308581"/>
            <a:ext cx="6798728" cy="1468800"/>
          </a:xfrm>
        </p:spPr>
        <p:txBody>
          <a:bodyPr anchor="b">
            <a:normAutofit/>
          </a:bodyPr>
          <a:lstStyle>
            <a:lvl1pPr algn="l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76868" y="4777381"/>
            <a:ext cx="6798730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85533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09416" y="982132"/>
            <a:ext cx="6325168" cy="2243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Text Placeholder 2"/>
          <p:cNvSpPr>
            <a:spLocks noGrp="1"/>
          </p:cNvSpPr>
          <p:nvPr>
            <p:ph type="body" idx="13"/>
          </p:nvPr>
        </p:nvSpPr>
        <p:spPr>
          <a:xfrm>
            <a:off x="1176868" y="3639312"/>
            <a:ext cx="6798730" cy="88696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76865" y="4529667"/>
            <a:ext cx="6798736" cy="1346200"/>
          </a:xfrm>
        </p:spPr>
        <p:txBody>
          <a:bodyPr anchor="t">
            <a:normAutofit/>
          </a:bodyPr>
          <a:lstStyle>
            <a:lvl1pPr marL="0" indent="0" algn="l">
              <a:buNone/>
              <a:defRPr sz="1600">
                <a:solidFill>
                  <a:schemeClr val="tx1"/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878060" y="896895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49796" y="2607728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26" name="Straight Connector 25"/>
          <p:cNvCxnSpPr/>
          <p:nvPr/>
        </p:nvCxnSpPr>
        <p:spPr>
          <a:xfrm>
            <a:off x="1278466" y="3429000"/>
            <a:ext cx="6595534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4710050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76865" y="982131"/>
            <a:ext cx="6798734" cy="2294467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sz="3200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2"/>
          <p:cNvSpPr>
            <a:spLocks noGrp="1"/>
          </p:cNvSpPr>
          <p:nvPr>
            <p:ph type="body" idx="13"/>
          </p:nvPr>
        </p:nvSpPr>
        <p:spPr>
          <a:xfrm>
            <a:off x="1176868" y="3566160"/>
            <a:ext cx="6798730" cy="905256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76866" y="4470400"/>
            <a:ext cx="6798734" cy="1405467"/>
          </a:xfrm>
        </p:spPr>
        <p:txBody>
          <a:bodyPr anchor="t">
            <a:normAutofit/>
          </a:bodyPr>
          <a:lstStyle>
            <a:lvl1pPr marL="0" indent="0" algn="l">
              <a:buNone/>
              <a:defRPr sz="1600">
                <a:solidFill>
                  <a:schemeClr val="tx1"/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278469" y="3429000"/>
            <a:ext cx="6606421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7416083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76865" y="2490135"/>
            <a:ext cx="6798736" cy="3385733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14" name="Straight Connector 13"/>
          <p:cNvCxnSpPr/>
          <p:nvPr/>
        </p:nvCxnSpPr>
        <p:spPr>
          <a:xfrm>
            <a:off x="1278466" y="2354670"/>
            <a:ext cx="6606424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3742863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356667" y="906873"/>
            <a:ext cx="1618930" cy="496899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76867" y="906873"/>
            <a:ext cx="4915509" cy="4968993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14" name="Straight Connector 13"/>
          <p:cNvCxnSpPr/>
          <p:nvPr/>
        </p:nvCxnSpPr>
        <p:spPr>
          <a:xfrm>
            <a:off x="6245512" y="906873"/>
            <a:ext cx="0" cy="4968993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486539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3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9152467" cy="6858000"/>
            <a:chOff x="0" y="0"/>
            <a:chExt cx="9152467" cy="6858000"/>
          </a:xfrm>
        </p:grpSpPr>
        <p:pic>
          <p:nvPicPr>
            <p:cNvPr id="8" name="Picture 7" descr="SD-PanelContent.png"/>
            <p:cNvPicPr>
              <a:picLocks noChangeAspect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9144000" cy="6858000"/>
            </a:xfrm>
            <a:prstGeom prst="rect">
              <a:avLst/>
            </a:prstGeom>
          </p:spPr>
        </p:pic>
        <p:sp>
          <p:nvSpPr>
            <p:cNvPr id="9" name="Rectangle 8"/>
            <p:cNvSpPr/>
            <p:nvPr/>
          </p:nvSpPr>
          <p:spPr>
            <a:xfrm>
              <a:off x="553888" y="542807"/>
              <a:ext cx="8039776" cy="5756392"/>
            </a:xfrm>
            <a:prstGeom prst="rect">
              <a:avLst/>
            </a:prstGeom>
            <a:noFill/>
            <a:ln w="15875" cap="flat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pic>
          <p:nvPicPr>
            <p:cNvPr id="10" name="Picture 9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" r="14240"/>
            <a:stretch/>
          </p:blipFill>
          <p:spPr>
            <a:xfrm>
              <a:off x="0" y="3128434"/>
              <a:ext cx="685800" cy="606425"/>
            </a:xfrm>
            <a:prstGeom prst="rect">
              <a:avLst/>
            </a:prstGeom>
          </p:spPr>
        </p:pic>
        <p:pic>
          <p:nvPicPr>
            <p:cNvPr id="11" name="Picture 10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" r="14240"/>
            <a:stretch/>
          </p:blipFill>
          <p:spPr>
            <a:xfrm>
              <a:off x="8466667" y="3128434"/>
              <a:ext cx="685800" cy="606425"/>
            </a:xfrm>
            <a:prstGeom prst="rect">
              <a:avLst/>
            </a:prstGeom>
          </p:spPr>
        </p:pic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76866" y="915337"/>
            <a:ext cx="6798734" cy="13038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76865" y="2490135"/>
            <a:ext cx="6798736" cy="344499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356670" y="5960533"/>
            <a:ext cx="1148283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76865" y="5960533"/>
            <a:ext cx="5104667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580091" y="5960533"/>
            <a:ext cx="39551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21993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000" kern="1200" cap="none">
          <a:ln w="3175" cmpd="sng">
            <a:noFill/>
          </a:ln>
          <a:solidFill>
            <a:schemeClr val="tx1">
              <a:lumMod val="85000"/>
              <a:lumOff val="15000"/>
            </a:schemeClr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0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8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6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 b="1" dirty="0"/>
              <a:t>STUDENT PLACEMENT PREDICTION SYSTEM USING MACHINE LEARNING</a:t>
            </a:r>
            <a:endParaRPr lang="en-IN" sz="2800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Automating Placement Analysis with Machine Learning</a:t>
            </a:r>
          </a:p>
          <a:p>
            <a:pPr marL="0" indent="0">
              <a:buNone/>
            </a:pPr>
            <a:r>
              <a:rPr lang="en-US" dirty="0"/>
              <a:t>                       </a:t>
            </a:r>
            <a:r>
              <a:rPr dirty="0"/>
              <a:t>Presenter: Pratik Mohite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Current Challenges in Placement Drives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Manual Analysis is time-consuming</a:t>
            </a:r>
          </a:p>
          <a:p>
            <a:r>
              <a:t>• Lack of insights</a:t>
            </a:r>
          </a:p>
          <a:p>
            <a:r>
              <a:t>• Data management issues</a:t>
            </a:r>
          </a:p>
          <a:p>
            <a:r>
              <a:t>• Delayed feedback for students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Introducing PlacementAI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ML-powered web platform</a:t>
            </a:r>
          </a:p>
          <a:p>
            <a:r>
              <a:t>• Instant placement prediction</a:t>
            </a:r>
          </a:p>
          <a:p>
            <a:r>
              <a:t>• Actionable recommendations</a:t>
            </a:r>
          </a:p>
          <a:p>
            <a:r>
              <a:t>• Admin dashboard insights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Smart Predictions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Single student prediction</a:t>
            </a:r>
          </a:p>
          <a:p>
            <a:r>
              <a:t>• Bulk CSV upload</a:t>
            </a:r>
          </a:p>
          <a:p>
            <a:r>
              <a:t>• Intelligent recommendations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Administrative Dashboard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Degree-wise analytics</a:t>
            </a:r>
          </a:p>
          <a:p>
            <a:r>
              <a:t>• Dynamic filtering</a:t>
            </a:r>
          </a:p>
          <a:p>
            <a:r>
              <a:t>• Smart data export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System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Frontend: HTML, CSS, JS, Chart.js</a:t>
            </a:r>
          </a:p>
          <a:p>
            <a:r>
              <a:t>• Backend: Flask</a:t>
            </a:r>
          </a:p>
          <a:p>
            <a:r>
              <a:t>• Database: MySQL</a:t>
            </a:r>
          </a:p>
          <a:p>
            <a:r>
              <a:t>• ML: Random Forest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Prediction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Input → Feature Engineering → Prediction → Output → Dashboard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2D61F30-AD4B-68A2-60A4-923709E44A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7960" y="648948"/>
            <a:ext cx="7794360" cy="302831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2BBA977-AAA8-68CB-F6BF-E1EBB049CD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7961" y="3780177"/>
            <a:ext cx="3964040" cy="242887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3905D98-5DDE-FD86-1D83-C9C33B0AB8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70322" y="3780177"/>
            <a:ext cx="3731998" cy="2428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94710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E6D646A-9C1D-D572-26C2-19F845A217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9097" y="636330"/>
            <a:ext cx="7815490" cy="54695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28551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CBE3230-D44E-16B0-D723-6A523497DB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419" y="706847"/>
            <a:ext cx="7660722" cy="5438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94651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Future Enhancements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Student login system</a:t>
            </a:r>
          </a:p>
          <a:p>
            <a:r>
              <a:t>• Job role prediction</a:t>
            </a:r>
          </a:p>
          <a:p>
            <a:r>
              <a:t>• Email integration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• Converts data into insights</a:t>
            </a:r>
          </a:p>
          <a:p>
            <a:r>
              <a:rPr dirty="0"/>
              <a:t>• Improves placement </a:t>
            </a:r>
            <a:r>
              <a:rPr dirty="0" err="1"/>
              <a:t>readines</a:t>
            </a:r>
            <a:r>
              <a:rPr lang="en-IN" dirty="0"/>
              <a:t>s</a:t>
            </a:r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rganic">
  <a:themeElements>
    <a:clrScheme name="Organic">
      <a:dk1>
        <a:sysClr val="windowText" lastClr="000000"/>
      </a:dk1>
      <a:lt1>
        <a:sysClr val="window" lastClr="FFFFFF"/>
      </a:lt1>
      <a:dk2>
        <a:srgbClr val="212121"/>
      </a:dk2>
      <a:lt2>
        <a:srgbClr val="DADADA"/>
      </a:lt2>
      <a:accent1>
        <a:srgbClr val="83992A"/>
      </a:accent1>
      <a:accent2>
        <a:srgbClr val="3C9770"/>
      </a:accent2>
      <a:accent3>
        <a:srgbClr val="44709D"/>
      </a:accent3>
      <a:accent4>
        <a:srgbClr val="A23C33"/>
      </a:accent4>
      <a:accent5>
        <a:srgbClr val="D97828"/>
      </a:accent5>
      <a:accent6>
        <a:srgbClr val="DEB340"/>
      </a:accent6>
      <a:hlink>
        <a:srgbClr val="A8BF4D"/>
      </a:hlink>
      <a:folHlink>
        <a:srgbClr val="B4CA80"/>
      </a:folHlink>
    </a:clrScheme>
    <a:fontScheme name="Organic">
      <a:majorFont>
        <a:latin typeface="Garamond" panose="020204040303010108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aramond" panose="02020404030301010803"/>
        <a:ea typeface=""/>
        <a:cs typeface=""/>
        <a:font script="Jpan" typeface="ＭＳ Ｐ明朝"/>
        <a:font script="Hang" typeface="바탕"/>
        <a:font script="Hans" typeface="方正舒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Organic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74000"/>
                <a:satMod val="130000"/>
                <a:lumMod val="90000"/>
              </a:schemeClr>
              <a:schemeClr val="phClr">
                <a:tint val="94000"/>
                <a:satMod val="120000"/>
                <a:lumMod val="104000"/>
              </a:schemeClr>
            </a:duotone>
          </a:blip>
          <a:tile tx="0" ty="0" sx="100000" sy="100000" flip="none" algn="tl"/>
        </a:blipFill>
      </a:fillStyleLst>
      <a:lnStyleLst>
        <a:ln w="9525" cap="rnd" cmpd="sng" algn="ctr">
          <a:solidFill>
            <a:schemeClr val="phClr"/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38100" dist="254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88000"/>
                <a:lumMod val="98000"/>
              </a:schemeClr>
            </a:gs>
          </a:gsLst>
          <a:lin ang="5400000" scaled="0"/>
        </a:gradFill>
        <a:blipFill>
          <a:blip xmlns:r="http://schemas.openxmlformats.org/officeDocument/2006/relationships" r:embed="rId2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rganic" id="{28CDC826-8792-45C0-861B-85EB3ADEDA33}" vid="{7DAC20F1-423D-49E2-BD0B-50532748BAD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Organic</Template>
  <TotalTime>54</TotalTime>
  <Words>146</Words>
  <Application>Microsoft Office PowerPoint</Application>
  <PresentationFormat>On-screen Show (4:3)</PresentationFormat>
  <Paragraphs>35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Garamond</vt:lpstr>
      <vt:lpstr>Organic</vt:lpstr>
      <vt:lpstr>STUDENT PLACEMENT PREDICTION SYSTEM USING MACHINE LEARNING</vt:lpstr>
      <vt:lpstr>Current Challenges in Placement Drives</vt:lpstr>
      <vt:lpstr>Introducing PlacementAI</vt:lpstr>
      <vt:lpstr>Smart Predictions</vt:lpstr>
      <vt:lpstr>Administrative Dashboard</vt:lpstr>
      <vt:lpstr>System Architecture</vt:lpstr>
      <vt:lpstr>Prediction Pipeline</vt:lpstr>
      <vt:lpstr>PowerPoint Presentation</vt:lpstr>
      <vt:lpstr>PowerPoint Presentation</vt:lpstr>
      <vt:lpstr>PowerPoint Presentation</vt:lpstr>
      <vt:lpstr>Future Enhancements</vt:lpstr>
      <vt:lpstr>Conclusion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pratik mohite</cp:lastModifiedBy>
  <cp:revision>4</cp:revision>
  <dcterms:created xsi:type="dcterms:W3CDTF">2013-01-27T09:14:16Z</dcterms:created>
  <dcterms:modified xsi:type="dcterms:W3CDTF">2026-05-11T05:47:29Z</dcterms:modified>
  <cp:category/>
</cp:coreProperties>
</file>